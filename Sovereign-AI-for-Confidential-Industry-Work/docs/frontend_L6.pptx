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8229600" cy="822960"/>
          </a:xfrm>
          <a:prstGeom prst="rect">
            <a:avLst/>
          </a:prstGeom>
          <a:noFill/>
        </p:spPr>
        <p:txBody>
          <a:bodyPr wrap="square" anchor="t" lIns="54864" rIns="54864" tIns="27432" bIns="27432">
            <a:spAutoFit/>
          </a:bodyPr>
          <a:lstStyle/>
          <a:p>
            <a:pPr algn="l">
              <a:spcBef>
                <a:spcPts val="0"/>
              </a:spcBef>
            </a:pPr>
            <a:r>
              <a:rPr sz="3000" b="1">
                <a:solidFill>
                  <a:srgbClr val="1A1A1A"/>
                </a:solidFill>
                <a:latin typeface="Segoe UI"/>
              </a:rPr>
              <a:t>Frontend</a:t>
            </a:r>
          </a:p>
          <a:p>
            <a:pPr algn="l">
              <a:spcBef>
                <a:spcPts val="300"/>
              </a:spcBef>
            </a:pPr>
            <a:r>
              <a:rPr sz="1300" b="0">
                <a:solidFill>
                  <a:srgbClr val="4A5A6A"/>
                </a:solidFill>
                <a:latin typeface="Segoe UI"/>
              </a:rPr>
              <a:t>L6 workbench UI  |  served same-origin by FastAPI</a:t>
            </a:r>
          </a:p>
        </p:txBody>
      </p:sp>
      <p:sp>
        <p:nvSpPr>
          <p:cNvPr id="3" name="TextBox 2"/>
          <p:cNvSpPr txBox="1"/>
          <p:nvPr/>
        </p:nvSpPr>
        <p:spPr>
          <a:xfrm>
            <a:off x="8778240" y="384048"/>
            <a:ext cx="2926080" cy="731520"/>
          </a:xfrm>
          <a:prstGeom prst="rect">
            <a:avLst/>
          </a:prstGeom>
          <a:noFill/>
        </p:spPr>
        <p:txBody>
          <a:bodyPr wrap="square" anchor="t" lIns="54864" rIns="54864" tIns="27432" bIns="27432">
            <a:spAutoFit/>
          </a:bodyPr>
          <a:lstStyle/>
          <a:p>
            <a:pPr algn="r">
              <a:spcBef>
                <a:spcPts val="0"/>
              </a:spcBef>
            </a:pPr>
            <a:r>
              <a:rPr sz="1300" b="1">
                <a:solidFill>
                  <a:srgbClr val="1F4E79"/>
                </a:solidFill>
                <a:latin typeface="Segoe UI"/>
              </a:rPr>
              <a:t>5 files - 2,788 lines</a:t>
            </a:r>
          </a:p>
          <a:p>
            <a:pPr algn="r">
              <a:spcBef>
                <a:spcPts val="300"/>
              </a:spcBef>
            </a:pPr>
            <a:r>
              <a:rPr sz="1050" b="0">
                <a:solidFill>
                  <a:srgbClr val="4A5A6A"/>
                </a:solidFill>
                <a:latin typeface="Segoe UI"/>
              </a:rPr>
              <a:t>vanilla ES2020, zero dependencies</a:t>
            </a:r>
          </a:p>
        </p:txBody>
      </p:sp>
      <p:sp>
        <p:nvSpPr>
          <p:cNvPr id="4" name="Rectangle 3"/>
          <p:cNvSpPr/>
          <p:nvPr/>
        </p:nvSpPr>
        <p:spPr>
          <a:xfrm>
            <a:off x="502920" y="1207008"/>
            <a:ext cx="11183112" cy="9525"/>
          </a:xfrm>
          <a:prstGeom prst="rect">
            <a:avLst/>
          </a:prstGeom>
          <a:solidFill>
            <a:srgbClr val="C7D3E0"/>
          </a:solidFill>
          <a:ln w="3175">
            <a:solidFill>
              <a:srgbClr val="C7D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481328"/>
            <a:ext cx="11183112" cy="2971800"/>
          </a:xfrm>
          <a:prstGeom prst="roundRect">
            <a:avLst>
              <a:gd name="adj" fmla="val 5500"/>
            </a:avLst>
          </a:prstGeom>
          <a:solidFill>
            <a:srgbClr val="BDD0E4"/>
          </a:solidFill>
          <a:ln w="19050">
            <a:solidFill>
              <a:srgbClr val="4A7EB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Bef>
                <a:spcPts val="0"/>
              </a:spcBef>
            </a:pPr>
          </a:p>
        </p:txBody>
      </p:sp>
      <p:sp>
        <p:nvSpPr>
          <p:cNvPr id="6" name="TextBox 5"/>
          <p:cNvSpPr txBox="1"/>
          <p:nvPr/>
        </p:nvSpPr>
        <p:spPr>
          <a:xfrm>
            <a:off x="777240" y="1627632"/>
            <a:ext cx="5486400" cy="384048"/>
          </a:xfrm>
          <a:prstGeom prst="rect">
            <a:avLst/>
          </a:prstGeom>
          <a:noFill/>
        </p:spPr>
        <p:txBody>
          <a:bodyPr wrap="square" anchor="t" lIns="54864" rIns="54864" tIns="27432" bIns="27432">
            <a:spAutoFit/>
          </a:bodyPr>
          <a:lstStyle/>
          <a:p>
            <a:pPr algn="l">
              <a:spcBef>
                <a:spcPts val="0"/>
              </a:spcBef>
            </a:pPr>
            <a:r>
              <a:rPr sz="1900" b="1">
                <a:solidFill>
                  <a:srgbClr val="1A1A1A"/>
                </a:solidFill>
                <a:latin typeface="Segoe UI"/>
              </a:rPr>
              <a:t>Frontend</a:t>
            </a:r>
          </a:p>
        </p:txBody>
      </p:sp>
      <p:sp>
        <p:nvSpPr>
          <p:cNvPr id="7" name="TextBox 6"/>
          <p:cNvSpPr txBox="1"/>
          <p:nvPr/>
        </p:nvSpPr>
        <p:spPr>
          <a:xfrm>
            <a:off x="795528" y="2002536"/>
            <a:ext cx="10607040" cy="310896"/>
          </a:xfrm>
          <a:prstGeom prst="rect">
            <a:avLst/>
          </a:prstGeom>
          <a:noFill/>
        </p:spPr>
        <p:txBody>
          <a:bodyPr wrap="square" anchor="t" lIns="54864" rIns="54864" tIns="27432" bIns="27432">
            <a:spAutoFit/>
          </a:bodyPr>
          <a:lstStyle/>
          <a:p>
            <a:pPr algn="l">
              <a:spcBef>
                <a:spcPts val="0"/>
              </a:spcBef>
            </a:pPr>
            <a:r>
              <a:rPr sz="1100" b="0">
                <a:solidFill>
                  <a:srgbClr val="1F4E79"/>
                </a:solidFill>
                <a:latin typeface="Segoe UI"/>
              </a:rPr>
              <a:t>Five panels over one 2 s poll loop. The stream is an optimisation, never the source of truth.</a:t>
            </a:r>
          </a:p>
        </p:txBody>
      </p:sp>
      <p:sp>
        <p:nvSpPr>
          <p:cNvPr id="8" name="Rounded Rectangle 7"/>
          <p:cNvSpPr/>
          <p:nvPr/>
        </p:nvSpPr>
        <p:spPr>
          <a:xfrm>
            <a:off x="777240" y="2395728"/>
            <a:ext cx="2009851" cy="1170432"/>
          </a:xfrm>
          <a:prstGeom prst="roundRect">
            <a:avLst>
              <a:gd name="adj" fmla="val 10000"/>
            </a:avLst>
          </a:prstGeom>
          <a:solidFill>
            <a:srgbClr val="FFFFFF"/>
          </a:solidFill>
          <a:ln w="12700">
            <a:solidFill>
              <a:srgbClr val="4A7EB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Bef>
                <a:spcPts val="0"/>
              </a:spcBef>
              <a:spcAft>
                <a:spcPts val="100"/>
              </a:spcAft>
            </a:pPr>
            <a:r>
              <a:rPr sz="1250" b="1">
                <a:solidFill>
                  <a:srgbClr val="1A1A1A"/>
                </a:solidFill>
                <a:latin typeface="Segoe UI"/>
              </a:rPr>
              <a:t>Overview</a:t>
            </a:r>
          </a:p>
          <a:p>
            <a:pPr algn="ctr">
              <a:spcBef>
                <a:spcPts val="400"/>
              </a:spcBef>
            </a:pPr>
            <a:r>
              <a:rPr sz="950" b="0">
                <a:solidFill>
                  <a:srgbClr val="4A5A6A"/>
                </a:solidFill>
                <a:latin typeface="Segoe UI"/>
              </a:rPr>
              <a:t>KPIs, live state,
recent runs</a:t>
            </a:r>
          </a:p>
        </p:txBody>
      </p:sp>
      <p:sp>
        <p:nvSpPr>
          <p:cNvPr id="9" name="Rounded Rectangle 8"/>
          <p:cNvSpPr/>
          <p:nvPr/>
        </p:nvSpPr>
        <p:spPr>
          <a:xfrm>
            <a:off x="2933395" y="2395728"/>
            <a:ext cx="2009851" cy="1170432"/>
          </a:xfrm>
          <a:prstGeom prst="roundRect">
            <a:avLst>
              <a:gd name="adj" fmla="val 10000"/>
            </a:avLst>
          </a:prstGeom>
          <a:solidFill>
            <a:srgbClr val="FFFFFF"/>
          </a:solidFill>
          <a:ln w="12700">
            <a:solidFill>
              <a:srgbClr val="4A7EB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Bef>
                <a:spcPts val="0"/>
              </a:spcBef>
              <a:spcAft>
                <a:spcPts val="100"/>
              </a:spcAft>
            </a:pPr>
            <a:r>
              <a:rPr sz="1250" b="1">
                <a:solidFill>
                  <a:srgbClr val="1A1A1A"/>
                </a:solidFill>
                <a:latin typeface="Segoe UI"/>
              </a:rPr>
              <a:t>Agentic run   L5</a:t>
            </a:r>
          </a:p>
          <a:p>
            <a:pPr algn="ctr">
              <a:spcBef>
                <a:spcPts val="400"/>
              </a:spcBef>
            </a:pPr>
            <a:r>
              <a:rPr sz="950" b="0">
                <a:solidFill>
                  <a:srgbClr val="4A5A6A"/>
                </a:solidFill>
                <a:latin typeface="Segoe UI"/>
              </a:rPr>
              <a:t>plan / execute /
critic timeline</a:t>
            </a:r>
          </a:p>
        </p:txBody>
      </p:sp>
      <p:sp>
        <p:nvSpPr>
          <p:cNvPr id="10" name="Rounded Rectangle 9"/>
          <p:cNvSpPr/>
          <p:nvPr/>
        </p:nvSpPr>
        <p:spPr>
          <a:xfrm>
            <a:off x="5089550" y="2395728"/>
            <a:ext cx="2009851" cy="1170432"/>
          </a:xfrm>
          <a:prstGeom prst="roundRect">
            <a:avLst>
              <a:gd name="adj" fmla="val 10000"/>
            </a:avLst>
          </a:prstGeom>
          <a:solidFill>
            <a:srgbClr val="FFFFFF"/>
          </a:solidFill>
          <a:ln w="12700">
            <a:solidFill>
              <a:srgbClr val="4A7EB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Bef>
                <a:spcPts val="0"/>
              </a:spcBef>
              <a:spcAft>
                <a:spcPts val="100"/>
              </a:spcAft>
            </a:pPr>
            <a:r>
              <a:rPr sz="1250" b="1">
                <a:solidFill>
                  <a:srgbClr val="1A1A1A"/>
                </a:solidFill>
                <a:latin typeface="Segoe UI"/>
              </a:rPr>
              <a:t>Knowledge   L3</a:t>
            </a:r>
          </a:p>
          <a:p>
            <a:pPr algn="ctr">
              <a:spcBef>
                <a:spcPts val="400"/>
              </a:spcBef>
            </a:pPr>
            <a:r>
              <a:rPr sz="950" b="0">
                <a:solidFill>
                  <a:srgbClr val="4A5A6A"/>
                </a:solidFill>
                <a:latin typeface="Segoe UI"/>
              </a:rPr>
              <a:t>upload, ingest,
cited answers</a:t>
            </a:r>
          </a:p>
        </p:txBody>
      </p:sp>
      <p:sp>
        <p:nvSpPr>
          <p:cNvPr id="11" name="Rounded Rectangle 10"/>
          <p:cNvSpPr/>
          <p:nvPr/>
        </p:nvSpPr>
        <p:spPr>
          <a:xfrm>
            <a:off x="7245705" y="2395728"/>
            <a:ext cx="2009851" cy="1170432"/>
          </a:xfrm>
          <a:prstGeom prst="roundRect">
            <a:avLst>
              <a:gd name="adj" fmla="val 10000"/>
            </a:avLst>
          </a:prstGeom>
          <a:solidFill>
            <a:srgbClr val="FFFFFF"/>
          </a:solidFill>
          <a:ln w="12700">
            <a:solidFill>
              <a:srgbClr val="4A7EB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Bef>
                <a:spcPts val="0"/>
              </a:spcBef>
              <a:spcAft>
                <a:spcPts val="100"/>
              </a:spcAft>
            </a:pPr>
            <a:r>
              <a:rPr sz="1250" b="1">
                <a:solidFill>
                  <a:srgbClr val="1A1A1A"/>
                </a:solidFill>
                <a:latin typeface="Segoe UI"/>
              </a:rPr>
              <a:t>Sovereignty   L0</a:t>
            </a:r>
          </a:p>
          <a:p>
            <a:pPr algn="ctr">
              <a:spcBef>
                <a:spcPts val="400"/>
              </a:spcBef>
            </a:pPr>
            <a:r>
              <a:rPr sz="950" b="0">
                <a:solidFill>
                  <a:srgbClr val="4A5A6A"/>
                </a:solidFill>
                <a:latin typeface="Segoe UI"/>
              </a:rPr>
              <a:t>sentinel, canary,
audit chain</a:t>
            </a:r>
          </a:p>
        </p:txBody>
      </p:sp>
      <p:sp>
        <p:nvSpPr>
          <p:cNvPr id="12" name="Rounded Rectangle 11"/>
          <p:cNvSpPr/>
          <p:nvPr/>
        </p:nvSpPr>
        <p:spPr>
          <a:xfrm>
            <a:off x="9401860" y="2395728"/>
            <a:ext cx="2009851" cy="1170432"/>
          </a:xfrm>
          <a:prstGeom prst="roundRect">
            <a:avLst>
              <a:gd name="adj" fmla="val 10000"/>
            </a:avLst>
          </a:prstGeom>
          <a:solidFill>
            <a:srgbClr val="FFFFFF"/>
          </a:solidFill>
          <a:ln w="12700">
            <a:solidFill>
              <a:srgbClr val="4A7EB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Bef>
                <a:spcPts val="0"/>
              </a:spcBef>
              <a:spcAft>
                <a:spcPts val="100"/>
              </a:spcAft>
            </a:pPr>
            <a:r>
              <a:rPr sz="1250" b="1">
                <a:solidFill>
                  <a:srgbClr val="1A1A1A"/>
                </a:solidFill>
                <a:latin typeface="Segoe UI"/>
              </a:rPr>
              <a:t>Fabric &amp; router   L1/L2</a:t>
            </a:r>
          </a:p>
          <a:p>
            <a:pPr algn="ctr">
              <a:spcBef>
                <a:spcPts val="400"/>
              </a:spcBef>
            </a:pPr>
            <a:r>
              <a:rPr sz="950" b="0">
                <a:solidFill>
                  <a:srgbClr val="4A5A6A"/>
                </a:solidFill>
                <a:latin typeface="Segoe UI"/>
              </a:rPr>
              <a:t>models, VRAM,
route explainer</a:t>
            </a:r>
          </a:p>
        </p:txBody>
      </p:sp>
      <p:sp>
        <p:nvSpPr>
          <p:cNvPr id="13" name="Rounded Rectangle 12"/>
          <p:cNvSpPr/>
          <p:nvPr/>
        </p:nvSpPr>
        <p:spPr>
          <a:xfrm>
            <a:off x="777240" y="3730752"/>
            <a:ext cx="10634472" cy="548640"/>
          </a:xfrm>
          <a:prstGeom prst="roundRect">
            <a:avLst>
              <a:gd name="adj" fmla="val 30000"/>
            </a:avLst>
          </a:prstGeom>
          <a:solidFill>
            <a:srgbClr val="E8F0F8"/>
          </a:solidFill>
          <a:ln w="12700">
            <a:solidFill>
              <a:srgbClr val="4A7EB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Bef>
                <a:spcPts val="0"/>
              </a:spcBef>
            </a:pPr>
            <a:r>
              <a:rPr sz="1100" b="1">
                <a:solidFill>
                  <a:srgbClr val="1F4E79"/>
                </a:solidFill>
                <a:latin typeface="Segoe UI"/>
              </a:rPr>
              <a:t>Shared shell   |   nav + per-view caveat counts   ·   honesty banner (every unproven subsystem, hoisted from any panel)   ·   theme</a:t>
            </a:r>
          </a:p>
        </p:txBody>
      </p:sp>
      <p:sp>
        <p:nvSpPr>
          <p:cNvPr id="14" name="Down Arrow 13"/>
          <p:cNvSpPr/>
          <p:nvPr/>
        </p:nvSpPr>
        <p:spPr>
          <a:xfrm>
            <a:off x="3131820" y="4507992"/>
            <a:ext cx="274320" cy="384048"/>
          </a:xfrm>
          <a:prstGeom prst="downArrow">
            <a:avLst/>
          </a:prstGeom>
          <a:solidFill>
            <a:srgbClr val="4A7EBB"/>
          </a:solidFill>
          <a:ln w="9525">
            <a:solidFill>
              <a:srgbClr val="4A7E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wn Arrow 14"/>
          <p:cNvSpPr/>
          <p:nvPr/>
        </p:nvSpPr>
        <p:spPr>
          <a:xfrm>
            <a:off x="8782812" y="4507992"/>
            <a:ext cx="274320" cy="384048"/>
          </a:xfrm>
          <a:prstGeom prst="downArrow">
            <a:avLst/>
          </a:prstGeom>
          <a:solidFill>
            <a:srgbClr val="4A7EBB"/>
          </a:solidFill>
          <a:ln w="9525">
            <a:solidFill>
              <a:srgbClr val="4A7E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2920" y="4956048"/>
            <a:ext cx="5532120" cy="786384"/>
          </a:xfrm>
          <a:prstGeom prst="roundRect">
            <a:avLst>
              <a:gd name="adj" fmla="val 14000"/>
            </a:avLst>
          </a:prstGeom>
          <a:solidFill>
            <a:srgbClr val="FFFFFF"/>
          </a:solidFill>
          <a:ln w="12700">
            <a:solidFill>
              <a:srgbClr val="4A7EB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Bef>
                <a:spcPts val="0"/>
              </a:spcBef>
            </a:pPr>
            <a:r>
              <a:rPr sz="1250" b="1">
                <a:solidFill>
                  <a:srgbClr val="1A1A1A"/>
                </a:solidFill>
                <a:latin typeface="Segoe UI"/>
              </a:rPr>
              <a:t>Poll  →  GET /api/*</a:t>
            </a:r>
          </a:p>
          <a:p>
            <a:pPr algn="ctr">
              <a:spcBef>
                <a:spcPts val="300"/>
              </a:spcBef>
            </a:pPr>
            <a:r>
              <a:rPr sz="950" b="0">
                <a:solidFill>
                  <a:srgbClr val="4A5A6A"/>
                </a:solidFill>
                <a:latin typeface="Segoe UI"/>
              </a:rPr>
              <a:t>sovereignty · models · runs · kb · route/explain · audit/verify</a:t>
            </a:r>
          </a:p>
        </p:txBody>
      </p:sp>
      <p:sp>
        <p:nvSpPr>
          <p:cNvPr id="17" name="Rounded Rectangle 16"/>
          <p:cNvSpPr/>
          <p:nvPr/>
        </p:nvSpPr>
        <p:spPr>
          <a:xfrm>
            <a:off x="6153912" y="4956048"/>
            <a:ext cx="5532120" cy="786384"/>
          </a:xfrm>
          <a:prstGeom prst="roundRect">
            <a:avLst>
              <a:gd name="adj" fmla="val 14000"/>
            </a:avLst>
          </a:prstGeom>
          <a:solidFill>
            <a:srgbClr val="FFFFFF"/>
          </a:solidFill>
          <a:ln w="12700">
            <a:solidFill>
              <a:srgbClr val="4A7EB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Bef>
                <a:spcPts val="0"/>
              </a:spcBef>
            </a:pPr>
            <a:r>
              <a:rPr sz="1250" b="1">
                <a:solidFill>
                  <a:srgbClr val="1A1A1A"/>
                </a:solidFill>
                <a:latin typeface="Segoe UI"/>
              </a:rPr>
              <a:t>Stream  →  SSE /api/runs/{id}/stream</a:t>
            </a:r>
          </a:p>
          <a:p>
            <a:pPr algn="ctr">
              <a:spcBef>
                <a:spcPts val="300"/>
              </a:spcBef>
            </a:pPr>
            <a:r>
              <a:rPr sz="950" b="0">
                <a:solidFill>
                  <a:srgbClr val="4A5A6A"/>
                </a:solidFill>
                <a:latin typeface="Segoe UI"/>
              </a:rPr>
              <a:t>falls back to polling and SAYS SO; a dropped event carries its count</a:t>
            </a:r>
          </a:p>
        </p:txBody>
      </p:sp>
      <p:sp>
        <p:nvSpPr>
          <p:cNvPr id="18" name="TextBox 17"/>
          <p:cNvSpPr txBox="1"/>
          <p:nvPr/>
        </p:nvSpPr>
        <p:spPr>
          <a:xfrm>
            <a:off x="502920" y="5925312"/>
            <a:ext cx="3611880" cy="777240"/>
          </a:xfrm>
          <a:prstGeom prst="rect">
            <a:avLst/>
          </a:prstGeom>
          <a:noFill/>
        </p:spPr>
        <p:txBody>
          <a:bodyPr wrap="square" anchor="t" lIns="54864" rIns="54864" tIns="27432" bIns="27432">
            <a:spAutoFit/>
          </a:bodyPr>
          <a:lstStyle/>
          <a:p>
            <a:pPr algn="l">
              <a:spcBef>
                <a:spcPts val="0"/>
              </a:spcBef>
            </a:pPr>
            <a:r>
              <a:rPr sz="1150" b="1">
                <a:solidFill>
                  <a:srgbClr val="1F4E79"/>
                </a:solidFill>
                <a:latin typeface="Segoe UI"/>
              </a:rPr>
              <a:t>No framework, no build</a:t>
            </a:r>
          </a:p>
          <a:p>
            <a:pPr algn="l">
              <a:spcBef>
                <a:spcPts val="300"/>
              </a:spcBef>
            </a:pPr>
            <a:r>
              <a:rPr sz="900" b="0">
                <a:solidFill>
                  <a:srgbClr val="4A5A6A"/>
                </a:solidFill>
                <a:latin typeface="Segoe UI"/>
              </a:rPr>
              <a:t>5 hand-written files. A bundle would be a dependency tree to stage offline, a lockfile to audit and a build to reproduce on the venue machine - to render five polling panels.</a:t>
            </a:r>
          </a:p>
        </p:txBody>
      </p:sp>
      <p:sp>
        <p:nvSpPr>
          <p:cNvPr id="19" name="TextBox 18"/>
          <p:cNvSpPr txBox="1"/>
          <p:nvPr/>
        </p:nvSpPr>
        <p:spPr>
          <a:xfrm>
            <a:off x="4288536" y="5925312"/>
            <a:ext cx="3611880" cy="777240"/>
          </a:xfrm>
          <a:prstGeom prst="rect">
            <a:avLst/>
          </a:prstGeom>
          <a:noFill/>
        </p:spPr>
        <p:txBody>
          <a:bodyPr wrap="square" anchor="t" lIns="54864" rIns="54864" tIns="27432" bIns="27432">
            <a:spAutoFit/>
          </a:bodyPr>
          <a:lstStyle/>
          <a:p>
            <a:pPr algn="l">
              <a:spcBef>
                <a:spcPts val="0"/>
              </a:spcBef>
            </a:pPr>
            <a:r>
              <a:rPr sz="1150" b="1">
                <a:solidFill>
                  <a:srgbClr val="1F4E79"/>
                </a:solidFill>
                <a:latin typeface="Segoe UI"/>
              </a:rPr>
              <a:t>Provably offline</a:t>
            </a:r>
          </a:p>
          <a:p>
            <a:pPr algn="l">
              <a:spcBef>
                <a:spcPts val="300"/>
              </a:spcBef>
            </a:pPr>
            <a:r>
              <a:rPr sz="900" b="0">
                <a:solidFill>
                  <a:srgbClr val="4A5A6A"/>
                </a:solidFill>
                <a:latin typeface="Segoe UI"/>
              </a:rPr>
              <a:t>Every URL is relative. scripts/offline_check.py asserts zero absolute URLs and a strict CSP over these files - a check it could never make over a minified vendor chunk.</a:t>
            </a:r>
          </a:p>
        </p:txBody>
      </p:sp>
      <p:sp>
        <p:nvSpPr>
          <p:cNvPr id="20" name="TextBox 19"/>
          <p:cNvSpPr txBox="1"/>
          <p:nvPr/>
        </p:nvSpPr>
        <p:spPr>
          <a:xfrm>
            <a:off x="8074152" y="5925312"/>
            <a:ext cx="3611880" cy="777240"/>
          </a:xfrm>
          <a:prstGeom prst="rect">
            <a:avLst/>
          </a:prstGeom>
          <a:noFill/>
        </p:spPr>
        <p:txBody>
          <a:bodyPr wrap="square" anchor="t" lIns="54864" rIns="54864" tIns="27432" bIns="27432">
            <a:spAutoFit/>
          </a:bodyPr>
          <a:lstStyle/>
          <a:p>
            <a:pPr algn="l">
              <a:spcBef>
                <a:spcPts val="0"/>
              </a:spcBef>
            </a:pPr>
            <a:r>
              <a:rPr sz="1150" b="1">
                <a:solidFill>
                  <a:srgbClr val="1F4E79"/>
                </a:solidFill>
                <a:latin typeface="Segoe UI"/>
              </a:rPr>
              <a:t>Degraded is rendered, not hidden</a:t>
            </a:r>
          </a:p>
          <a:p>
            <a:pPr algn="l">
              <a:spcBef>
                <a:spcPts val="300"/>
              </a:spcBef>
            </a:pPr>
            <a:r>
              <a:rPr sz="900" b="0">
                <a:solidFill>
                  <a:srgbClr val="4A5A6A"/>
                </a:solidFill>
                <a:latin typeface="Segoe UI"/>
              </a:rPr>
              <a:t>Any subsystem that cannot do its real job hoists its reason into the banner at the top of the page, from whichever panel it came. The chip is deliberately not dismissible.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